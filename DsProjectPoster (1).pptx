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46F7B-D425-48F4-A80C-97B6B699BF1D}" v="1" dt="2026-04-09T19:26:18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73"/>
    <p:restoredTop sz="94664"/>
  </p:normalViewPr>
  <p:slideViewPr>
    <p:cSldViewPr snapToGrid="0" snapToObjects="1">
      <p:cViewPr>
        <p:scale>
          <a:sx n="33" d="100"/>
          <a:sy n="33" d="100"/>
        </p:scale>
        <p:origin x="-1172" y="160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5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3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1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1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B4AB-9BC1-CE45-86A6-BBCC9E970F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04D03-15AE-0741-960A-6ECF5B5D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4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324604" y="4702821"/>
            <a:ext cx="14101483" cy="30480139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>
                <a:solidFill>
                  <a:srgbClr val="0070C0"/>
                </a:solidFill>
                <a:latin typeface="Arial"/>
                <a:cs typeface="Arial"/>
              </a:rPr>
              <a:t>Results and discussion</a:t>
            </a: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dirty="0"/>
              <a:t>Among the basic models, SVM had the highest accuracy. From the results, it was clear that preprocessing enhances data quality, helping to make a more accurate decision about the disease condition of a given leaf. The accuracy for CNN before enhancing images was about 38%, but after enhancing it went up to 78%.  Hence image pre-processing and image enhancement techniques are important.  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     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Conclusion</a:t>
            </a:r>
          </a:p>
          <a:p>
            <a:r>
              <a:rPr lang="en-US" sz="3600" dirty="0"/>
              <a:t>This project demonstrates that plant disease detection can be effectively achieved using image processing and machine learning techniques.</a:t>
            </a:r>
          </a:p>
          <a:p>
            <a:r>
              <a:rPr lang="en-US" sz="3600" dirty="0"/>
              <a:t>It was observed that:</a:t>
            </a:r>
            <a:br>
              <a:rPr lang="en-US" sz="3600" dirty="0"/>
            </a:br>
            <a:r>
              <a:rPr lang="en-US" sz="3600" dirty="0"/>
              <a:t>• Proper preprocessing is important</a:t>
            </a:r>
            <a:br>
              <a:rPr lang="en-US" sz="3600" dirty="0"/>
            </a:br>
            <a:r>
              <a:rPr lang="en-US" sz="3600" dirty="0"/>
              <a:t>• Feature extraction improves traditional models</a:t>
            </a:r>
            <a:br>
              <a:rPr lang="en-US" sz="3600" dirty="0"/>
            </a:br>
            <a:r>
              <a:rPr lang="en-US" sz="3600" dirty="0"/>
              <a:t>• CNN performs better than basic models</a:t>
            </a: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References </a:t>
            </a:r>
          </a:p>
          <a:p>
            <a:r>
              <a:rPr lang="en-US" sz="3600" dirty="0"/>
              <a:t>This project demonstrates that plant disease detection can be effectively achieved using image processing and machine learning techniques.</a:t>
            </a:r>
          </a:p>
          <a:p>
            <a:r>
              <a:rPr lang="en-US" sz="3600" dirty="0"/>
              <a:t>It was observed that:</a:t>
            </a:r>
            <a:br>
              <a:rPr lang="en-US" sz="3600" dirty="0"/>
            </a:br>
            <a:r>
              <a:rPr lang="en-US" sz="3600" dirty="0"/>
              <a:t>• Proper preprocessing is important</a:t>
            </a:r>
            <a:br>
              <a:rPr lang="en-US" sz="3600" dirty="0"/>
            </a:br>
            <a:r>
              <a:rPr lang="en-US" sz="3600" dirty="0"/>
              <a:t>• Feature extraction improves traditional models</a:t>
            </a:r>
            <a:br>
              <a:rPr lang="en-US" sz="3600" dirty="0"/>
            </a:br>
            <a:r>
              <a:rPr lang="en-US" sz="3600" dirty="0"/>
              <a:t>• CNN performs better than basic models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3E3A997-AC34-4F4F-AB70-E535DDD5B7DE}"/>
              </a:ext>
            </a:extLst>
          </p:cNvPr>
          <p:cNvSpPr/>
          <p:nvPr/>
        </p:nvSpPr>
        <p:spPr>
          <a:xfrm>
            <a:off x="0" y="-219722"/>
            <a:ext cx="43891200" cy="3657253"/>
          </a:xfrm>
          <a:custGeom>
            <a:avLst/>
            <a:gdLst/>
            <a:ahLst/>
            <a:cxnLst/>
            <a:rect l="l" t="t" r="r" b="b"/>
            <a:pathLst>
              <a:path w="20104100" h="2233930">
                <a:moveTo>
                  <a:pt x="0" y="2233788"/>
                </a:moveTo>
                <a:lnTo>
                  <a:pt x="20104099" y="2233788"/>
                </a:lnTo>
                <a:lnTo>
                  <a:pt x="20104099" y="0"/>
                </a:lnTo>
                <a:lnTo>
                  <a:pt x="0" y="0"/>
                </a:lnTo>
                <a:lnTo>
                  <a:pt x="0" y="223378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4825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E7FBB64-4D0D-0A4B-90FA-4E80427AEDDE}"/>
              </a:ext>
            </a:extLst>
          </p:cNvPr>
          <p:cNvSpPr txBox="1">
            <a:spLocks/>
          </p:cNvSpPr>
          <p:nvPr/>
        </p:nvSpPr>
        <p:spPr>
          <a:xfrm>
            <a:off x="9429485" y="-219722"/>
            <a:ext cx="22413150" cy="1363390"/>
          </a:xfrm>
          <a:prstGeom prst="rect">
            <a:avLst/>
          </a:prstGeom>
        </p:spPr>
        <p:txBody>
          <a:bodyPr vert="horz" wrap="square" lIns="0" tIns="19752" rIns="0" bIns="0" rtlCol="0" anchor="b">
            <a:spAutoFit/>
          </a:bodyPr>
          <a:lstStyle>
            <a:lvl1pPr algn="ctr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solidFill>
                  <a:schemeClr val="bg2"/>
                </a:solidFill>
              </a:rPr>
              <a:t>Plant Disease Detection </a:t>
            </a:r>
            <a:endParaRPr lang="en-US" sz="9600" dirty="0">
              <a:solidFill>
                <a:schemeClr val="bg2"/>
              </a:solidFill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1425136" y="928190"/>
            <a:ext cx="17800475" cy="2566450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 err="1">
                <a:solidFill>
                  <a:srgbClr val="FFFFFF"/>
                </a:solidFill>
                <a:latin typeface="Arial"/>
                <a:cs typeface="Arial"/>
              </a:rPr>
              <a:t>Rukhaany</a:t>
            </a:r>
            <a:r>
              <a:rPr lang="en-US" sz="4000" spc="1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000" spc="16" dirty="0" err="1">
                <a:solidFill>
                  <a:srgbClr val="FFFFFF"/>
                </a:solidFill>
                <a:latin typeface="Arial"/>
                <a:cs typeface="Arial"/>
              </a:rPr>
              <a:t>Lakshmipathy</a:t>
            </a:r>
            <a:r>
              <a:rPr lang="en-US" sz="4000" spc="16" dirty="0">
                <a:solidFill>
                  <a:srgbClr val="FFFFFF"/>
                </a:solidFill>
                <a:latin typeface="Arial"/>
                <a:cs typeface="Arial"/>
              </a:rPr>
              <a:t>(24BCE1381) &amp; </a:t>
            </a:r>
          </a:p>
          <a:p>
            <a:pPr marL="20791" algn="ctr">
              <a:spcBef>
                <a:spcPts val="213"/>
              </a:spcBef>
            </a:pPr>
            <a:r>
              <a:rPr lang="en-US" sz="4000" spc="16" dirty="0">
                <a:solidFill>
                  <a:srgbClr val="FFFFFF"/>
                </a:solidFill>
                <a:latin typeface="Arial"/>
                <a:cs typeface="Arial"/>
              </a:rPr>
              <a:t>Yunus Mohammed Sabir(24BCE1385)</a:t>
            </a:r>
          </a:p>
          <a:p>
            <a:pPr marL="20791" algn="ctr">
              <a:spcBef>
                <a:spcPts val="213"/>
              </a:spcBef>
            </a:pPr>
            <a:endParaRPr lang="en-US" sz="4000" spc="16" dirty="0">
              <a:solidFill>
                <a:srgbClr val="FFFFFF"/>
              </a:solidFill>
              <a:latin typeface="Arial"/>
              <a:cs typeface="Arial"/>
            </a:endParaRPr>
          </a:p>
          <a:p>
            <a:pPr marL="20791" algn="ctr">
              <a:spcBef>
                <a:spcPts val="213"/>
              </a:spcBef>
            </a:pPr>
            <a:endParaRPr sz="4000" dirty="0">
              <a:latin typeface="Arial"/>
              <a:cs typeface="Arial"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29498886" y="22303068"/>
            <a:ext cx="9829800" cy="324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3200" dirty="0">
                <a:solidFill>
                  <a:srgbClr val="231F20"/>
                </a:solidFill>
                <a:latin typeface="Arial"/>
                <a:cs typeface="Arial"/>
              </a:rPr>
              <a:t>ACCRACY COMPARISON OF ALL 4 BASIC MODELS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9" name="Picture 28" descr="See the source image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02"/>
            <a:ext cx="8767482" cy="296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object 6">
            <a:extLst>
              <a:ext uri="{FF2B5EF4-FFF2-40B4-BE49-F238E27FC236}">
                <a16:creationId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896600" y="2296547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>
                <a:solidFill>
                  <a:srgbClr val="FFFFFF"/>
                </a:solidFill>
                <a:latin typeface="Arial"/>
                <a:cs typeface="Arial"/>
              </a:rPr>
              <a:t>Dr. </a:t>
            </a:r>
            <a:r>
              <a:rPr lang="en-US" sz="4000" spc="16" dirty="0" err="1">
                <a:solidFill>
                  <a:srgbClr val="FFFFFF"/>
                </a:solidFill>
                <a:latin typeface="Arial"/>
                <a:cs typeface="Arial"/>
              </a:rPr>
              <a:t>Pattabiraman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3" name="object 6">
            <a:extLst>
              <a:ext uri="{FF2B5EF4-FFF2-40B4-BE49-F238E27FC236}">
                <a16:creationId xmlns:a16="http://schemas.microsoft.com/office/drawing/2014/main" id="{0E51A11A-3A38-D04C-9B83-12833A3C48F8}"/>
              </a:ext>
            </a:extLst>
          </p:cNvPr>
          <p:cNvSpPr txBox="1"/>
          <p:nvPr/>
        </p:nvSpPr>
        <p:spPr>
          <a:xfrm>
            <a:off x="10941424" y="2870095"/>
            <a:ext cx="17800475" cy="642846"/>
          </a:xfrm>
          <a:prstGeom prst="rect">
            <a:avLst/>
          </a:prstGeom>
        </p:spPr>
        <p:txBody>
          <a:bodyPr vert="horz" wrap="square" lIns="0" tIns="27029" rIns="0" bIns="0" rtlCol="0">
            <a:spAutoFit/>
          </a:bodyPr>
          <a:lstStyle/>
          <a:p>
            <a:pPr marL="20791" algn="ctr">
              <a:spcBef>
                <a:spcPts val="213"/>
              </a:spcBef>
            </a:pPr>
            <a:r>
              <a:rPr lang="en-US" sz="4000" spc="16" dirty="0">
                <a:solidFill>
                  <a:srgbClr val="FFFFFF"/>
                </a:solidFill>
                <a:latin typeface="Arial"/>
                <a:cs typeface="Arial"/>
              </a:rPr>
              <a:t>SCOPE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8916" y="4590627"/>
            <a:ext cx="14101483" cy="24334867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>
                <a:solidFill>
                  <a:srgbClr val="0070C0"/>
                </a:solidFill>
                <a:latin typeface="Arial"/>
                <a:cs typeface="Arial"/>
              </a:rPr>
              <a:t>INTRODUCTION</a:t>
            </a:r>
          </a:p>
          <a:p>
            <a:pPr marR="120589">
              <a:lnSpc>
                <a:spcPts val="4000"/>
              </a:lnSpc>
            </a:pP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Currently, in the modern world, plant diseases play a major role in reducing agricultural productivity. A huge number of plants get destroyed every year because of the late detection of these diseases.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reasons for undertaking this project include the following: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Plant diseases cause a reduction in crop production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Early detection prevents extensive damage from occurring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Detection manually is a tedious process requiring expertise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achieve automatic detection of these diseases in plants, different image processing techniques are applied along with algorithms like Logistic Regression, KNN, Decision Tree, SVM, and CNN.</a:t>
            </a:r>
          </a:p>
          <a:p>
            <a:pPr marR="493790">
              <a:lnSpc>
                <a:spcPts val="4000"/>
              </a:lnSpc>
              <a:spcBef>
                <a:spcPts val="1800"/>
              </a:spcBef>
            </a:pP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Objectives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dirty="0"/>
              <a:t>• Identify plant diseases using leaf images</a:t>
            </a:r>
            <a:br>
              <a:rPr lang="en-US" sz="3600" dirty="0"/>
            </a:br>
            <a:r>
              <a:rPr lang="en-US" sz="3600" dirty="0"/>
              <a:t>• Apply preprocessing techniques to improve image quality</a:t>
            </a:r>
            <a:br>
              <a:rPr lang="en-US" sz="3600" dirty="0"/>
            </a:br>
            <a:r>
              <a:rPr lang="en-US" sz="3600" dirty="0"/>
              <a:t>• Perform segmentation to extract diseased regions</a:t>
            </a:r>
            <a:br>
              <a:rPr lang="en-US" sz="3600" dirty="0"/>
            </a:br>
            <a:r>
              <a:rPr lang="en-US" sz="3600" dirty="0"/>
              <a:t>• Analyze performance of machine learning models</a:t>
            </a:r>
            <a:br>
              <a:rPr lang="en-US" sz="3600" dirty="0"/>
            </a:br>
            <a:r>
              <a:rPr lang="en-US" sz="3600" dirty="0"/>
              <a:t>• Compare models with and without feature extraction</a:t>
            </a:r>
            <a:br>
              <a:rPr lang="en-US" sz="3600" dirty="0"/>
            </a:br>
            <a:r>
              <a:rPr lang="en-US" sz="3600" dirty="0"/>
              <a:t>• Improve accuracy using deep learning (CN</a:t>
            </a:r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SCOPE of the project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Facilitates automatic disease diagnosis of plants based on leaf images</a:t>
            </a: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Minimizes reliance on expert-based visual inspection</a:t>
            </a: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Assists in the timely recognition of disease to avoid crop damage</a:t>
            </a: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Can be expanded to real-time application via mobile/web interfaces</a:t>
            </a: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Suitable for different types of plant diseases based on images</a:t>
            </a: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May be enhanced using deep learning techniques for greater precision</a:t>
            </a:r>
          </a:p>
          <a:p>
            <a:r>
              <a:rPr lang="en-US" sz="3600" spc="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Beneficial for farmers, agricultural scientists, and monitoring systems</a:t>
            </a: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7" name="object 11">
            <a:extLst>
              <a:ext uri="{FF2B5EF4-FFF2-40B4-BE49-F238E27FC236}">
                <a16:creationId xmlns:a16="http://schemas.microsoft.com/office/drawing/2014/main" id="{EDFC8681-2751-864D-AD18-6901FD6462C2}"/>
              </a:ext>
            </a:extLst>
          </p:cNvPr>
          <p:cNvSpPr txBox="1"/>
          <p:nvPr/>
        </p:nvSpPr>
        <p:spPr>
          <a:xfrm>
            <a:off x="29608724" y="15338243"/>
            <a:ext cx="9829800" cy="335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3600" dirty="0">
                <a:solidFill>
                  <a:srgbClr val="231F20"/>
                </a:solidFill>
                <a:latin typeface="Arial"/>
                <a:cs typeface="Arial"/>
              </a:rPr>
              <a:t>NORMAL IMAGE VS PREPROCESSED IMAGE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894858" y="4662345"/>
            <a:ext cx="14101483" cy="2992614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endParaRPr lang="en-US" sz="40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r>
              <a:rPr lang="en-US" sz="4000" b="1" cap="all" spc="25" dirty="0">
                <a:solidFill>
                  <a:srgbClr val="0070C0"/>
                </a:solidFill>
                <a:latin typeface="Arial"/>
                <a:cs typeface="Arial"/>
              </a:rPr>
              <a:t>methodology</a:t>
            </a:r>
            <a:endParaRPr lang="en-US" sz="4000" b="1" cap="all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dirty="0"/>
              <a:t>Preprocessing</a:t>
            </a:r>
          </a:p>
          <a:p>
            <a:r>
              <a:rPr lang="en-US" sz="3600" dirty="0"/>
              <a:t>Preprocessing techniques like resizing, normalization, and Gaussian blur are applied to the images in the dataset to standardize input and reduce noise for better prediction.</a:t>
            </a:r>
          </a:p>
          <a:p>
            <a:endParaRPr lang="en-US" sz="3600" dirty="0"/>
          </a:p>
          <a:p>
            <a:r>
              <a:rPr lang="en-US" sz="3600" b="1" dirty="0"/>
              <a:t>Segmentation</a:t>
            </a:r>
          </a:p>
          <a:p>
            <a:r>
              <a:rPr lang="en-US" sz="3600" dirty="0"/>
              <a:t>Segmentation techniques such as HSV color segmentation and Otsu thresholding </a:t>
            </a:r>
            <a:r>
              <a:rPr lang="en-US" sz="3600" dirty="0" err="1"/>
              <a:t>etc</a:t>
            </a:r>
            <a:r>
              <a:rPr lang="en-US" sz="3600" dirty="0"/>
              <a:t> are used to isolate diseased regions.</a:t>
            </a:r>
          </a:p>
          <a:p>
            <a:endParaRPr lang="en-US" sz="3600" dirty="0"/>
          </a:p>
          <a:p>
            <a:r>
              <a:rPr lang="en-US" sz="3600" b="1" dirty="0"/>
              <a:t>Feature Extraction</a:t>
            </a:r>
          </a:p>
          <a:p>
            <a:r>
              <a:rPr lang="en-US" sz="3600" dirty="0"/>
              <a:t>HOG (Histogram of Oriented Gradients) is used to extract features like edges and textures from images.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600" b="1" cap="all" spc="25" dirty="0">
                <a:solidFill>
                  <a:srgbClr val="0070C0"/>
                </a:solidFill>
                <a:latin typeface="Arial"/>
                <a:cs typeface="Arial"/>
              </a:rPr>
              <a:t>Architecture </a:t>
            </a: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/>
              <a:t>Used </a:t>
            </a:r>
            <a:r>
              <a:rPr lang="en-US" sz="3600" dirty="0" err="1"/>
              <a:t>PlantVillage</a:t>
            </a:r>
            <a:r>
              <a:rPr lang="en-US" sz="3600" dirty="0"/>
              <a:t> dataset:</a:t>
            </a:r>
          </a:p>
          <a:p>
            <a:r>
              <a:rPr lang="en-US" sz="3600" dirty="0"/>
              <a:t>• Contains images of healthy and diseased plant leaves</a:t>
            </a:r>
            <a:br>
              <a:rPr lang="en-US" sz="3600" dirty="0"/>
            </a:br>
            <a:r>
              <a:rPr lang="en-US" sz="3600" dirty="0"/>
              <a:t>• Multiple classes such as Tomato Early Blight, Late Blight, Healthy leaves</a:t>
            </a:r>
            <a:br>
              <a:rPr lang="en-US" sz="3600" dirty="0"/>
            </a:br>
            <a:r>
              <a:rPr lang="en-US" sz="3600" dirty="0"/>
              <a:t>• Approximately 150 images per class used for training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Machine learning algorithms used:</a:t>
            </a:r>
          </a:p>
          <a:p>
            <a:r>
              <a:rPr lang="en-US" sz="3600" dirty="0"/>
              <a:t>• Logistic Regression</a:t>
            </a:r>
            <a:br>
              <a:rPr lang="en-US" sz="3600" dirty="0"/>
            </a:br>
            <a:r>
              <a:rPr lang="en-US" sz="3600" dirty="0"/>
              <a:t>• K-Nearest Neighbors (KNN)</a:t>
            </a:r>
            <a:br>
              <a:rPr lang="en-US" sz="3600" dirty="0"/>
            </a:br>
            <a:r>
              <a:rPr lang="en-US" sz="3600" dirty="0"/>
              <a:t>• Decision Tree</a:t>
            </a:r>
            <a:br>
              <a:rPr lang="en-US" sz="3600" dirty="0"/>
            </a:br>
            <a:r>
              <a:rPr lang="en-US" sz="3600" dirty="0"/>
              <a:t>• Support Vector Machine (SVM)</a:t>
            </a:r>
          </a:p>
          <a:p>
            <a:r>
              <a:rPr lang="en-US" sz="3600" dirty="0"/>
              <a:t>Deep learning model:</a:t>
            </a:r>
          </a:p>
          <a:p>
            <a:r>
              <a:rPr lang="en-US" sz="3600" dirty="0"/>
              <a:t>• Convolutional Neural Network (CNN)</a:t>
            </a:r>
          </a:p>
          <a:p>
            <a:endParaRPr lang="en-US" sz="3600" dirty="0"/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spc="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55971" y="3445065"/>
            <a:ext cx="23979257" cy="1631216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</a:ln>
        </p:spPr>
        <p:txBody>
          <a:bodyPr wrap="square" rtlCol="0">
            <a:spAutoFit/>
          </a:bodyPr>
          <a:lstStyle/>
          <a:p>
            <a:pPr marR="120589">
              <a:lnSpc>
                <a:spcPts val="4000"/>
              </a:lnSpc>
            </a:pPr>
            <a:r>
              <a:rPr lang="en-US" sz="4000" b="1" cap="all" spc="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</a:p>
          <a:p>
            <a:pPr marR="120589">
              <a:lnSpc>
                <a:spcPts val="4000"/>
              </a:lnSpc>
            </a:pPr>
            <a:r>
              <a:rPr lang="en-US" sz="4000" b="1" cap="all" spc="25" dirty="0" err="1">
                <a:solidFill>
                  <a:srgbClr val="0070C0"/>
                </a:solidFill>
                <a:latin typeface="Arial"/>
                <a:cs typeface="Arial"/>
              </a:rPr>
              <a:t>Github</a:t>
            </a:r>
            <a:r>
              <a:rPr lang="en-US" sz="4000" b="1" cap="all" spc="25" dirty="0">
                <a:solidFill>
                  <a:srgbClr val="0070C0"/>
                </a:solidFill>
                <a:latin typeface="Arial"/>
                <a:cs typeface="Arial"/>
              </a:rPr>
              <a:t> link:  </a:t>
            </a:r>
            <a:r>
              <a:rPr lang="en-US" sz="4000" spc="25" dirty="0">
                <a:latin typeface="Arial"/>
                <a:cs typeface="Arial"/>
              </a:rPr>
              <a:t>https://github.com/rukhaanylakshmipathy-crypto/plant-disease-detection       </a:t>
            </a:r>
            <a:endParaRPr lang="en-US" sz="4000" cap="all" spc="25" dirty="0">
              <a:latin typeface="Arial"/>
              <a:cs typeface="Arial"/>
            </a:endParaRPr>
          </a:p>
          <a:p>
            <a:pPr marR="120589">
              <a:lnSpc>
                <a:spcPts val="4000"/>
              </a:lnSpc>
            </a:pPr>
            <a:endParaRPr lang="en-US" sz="3600" b="1" cap="all" spc="25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8E8357-43DE-1560-CCEB-B1ACB3B6C04B}"/>
              </a:ext>
            </a:extLst>
          </p:cNvPr>
          <p:cNvGrpSpPr/>
          <p:nvPr/>
        </p:nvGrpSpPr>
        <p:grpSpPr>
          <a:xfrm>
            <a:off x="15673693" y="14122099"/>
            <a:ext cx="11341942" cy="4553593"/>
            <a:chOff x="1837346" y="3230310"/>
            <a:chExt cx="7503206" cy="22891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87F567-6245-AB10-3A3D-C4E70ABECF7C}"/>
                </a:ext>
              </a:extLst>
            </p:cNvPr>
            <p:cNvSpPr/>
            <p:nvPr/>
          </p:nvSpPr>
          <p:spPr>
            <a:xfrm>
              <a:off x="1837346" y="3230311"/>
              <a:ext cx="1452785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Datasets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AEB3D2-7435-43B6-BE58-87C9F4FD5982}"/>
                </a:ext>
              </a:extLst>
            </p:cNvPr>
            <p:cNvSpPr/>
            <p:nvPr/>
          </p:nvSpPr>
          <p:spPr>
            <a:xfrm>
              <a:off x="7964679" y="4605098"/>
              <a:ext cx="1375873" cy="914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Feature Extraction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3B545F8-9EC4-3BA8-BF62-09A69C561375}"/>
                </a:ext>
              </a:extLst>
            </p:cNvPr>
            <p:cNvSpPr/>
            <p:nvPr/>
          </p:nvSpPr>
          <p:spPr>
            <a:xfrm>
              <a:off x="1837346" y="4645012"/>
              <a:ext cx="1428019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Diseased plant or not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6B99C97-1F42-EB9B-823D-67AF859A55BC}"/>
                </a:ext>
              </a:extLst>
            </p:cNvPr>
            <p:cNvSpPr/>
            <p:nvPr/>
          </p:nvSpPr>
          <p:spPr>
            <a:xfrm>
              <a:off x="4822086" y="4645012"/>
              <a:ext cx="1427148" cy="87448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Machine Learning Algorithm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F5301CB-305E-9253-6609-6C06611A06FD}"/>
                </a:ext>
              </a:extLst>
            </p:cNvPr>
            <p:cNvCxnSpPr>
              <a:stCxn id="8" idx="1"/>
              <a:endCxn id="5" idx="3"/>
            </p:cNvCxnSpPr>
            <p:nvPr/>
          </p:nvCxnSpPr>
          <p:spPr>
            <a:xfrm flipH="1">
              <a:off x="3265365" y="5082255"/>
              <a:ext cx="15567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02986F-217D-6C03-F21F-14457191BB28}"/>
                </a:ext>
              </a:extLst>
            </p:cNvPr>
            <p:cNvSpPr/>
            <p:nvPr/>
          </p:nvSpPr>
          <p:spPr>
            <a:xfrm>
              <a:off x="4822086" y="3230310"/>
              <a:ext cx="1427148" cy="8516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Data Exploration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73C96D-9D5D-B5C0-731C-AFC47E29FA43}"/>
                </a:ext>
              </a:extLst>
            </p:cNvPr>
            <p:cNvSpPr/>
            <p:nvPr/>
          </p:nvSpPr>
          <p:spPr>
            <a:xfrm>
              <a:off x="7853584" y="3230310"/>
              <a:ext cx="1486968" cy="85114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800" dirty="0"/>
                <a:t>Deep Net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E5B9DD4-F056-CED6-8A1E-DED79579AC6B}"/>
                </a:ext>
              </a:extLst>
            </p:cNvPr>
            <p:cNvCxnSpPr>
              <a:stCxn id="3" idx="3"/>
              <a:endCxn id="11" idx="1"/>
            </p:cNvCxnSpPr>
            <p:nvPr/>
          </p:nvCxnSpPr>
          <p:spPr>
            <a:xfrm flipV="1">
              <a:off x="3290131" y="3656119"/>
              <a:ext cx="1531955" cy="313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9895A16-6FE7-FFF6-7C03-31BFD796B934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6249234" y="3655883"/>
              <a:ext cx="1604350" cy="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B4E7B22-F82F-28F7-7ACE-2BF8FD302FD5}"/>
                </a:ext>
              </a:extLst>
            </p:cNvPr>
            <p:cNvCxnSpPr>
              <a:endCxn id="4" idx="0"/>
            </p:cNvCxnSpPr>
            <p:nvPr/>
          </p:nvCxnSpPr>
          <p:spPr>
            <a:xfrm>
              <a:off x="8652616" y="4081927"/>
              <a:ext cx="0" cy="5231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1534733-0A7D-1FF2-8144-4CF30BEEE6C7}"/>
                </a:ext>
              </a:extLst>
            </p:cNvPr>
            <p:cNvCxnSpPr>
              <a:stCxn id="4" idx="1"/>
              <a:endCxn id="8" idx="3"/>
            </p:cNvCxnSpPr>
            <p:nvPr/>
          </p:nvCxnSpPr>
          <p:spPr>
            <a:xfrm flipH="1">
              <a:off x="6249234" y="5062298"/>
              <a:ext cx="1715445" cy="19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8C23479-65A0-F796-7E5A-9C7AA2BE4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4168" y="15898719"/>
            <a:ext cx="7459116" cy="60396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F7728C-3417-D86C-E3DB-0CBAE9A87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6385" y="9256730"/>
            <a:ext cx="7446366" cy="566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21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</TotalTime>
  <Words>607</Words>
  <Application>Microsoft Office PowerPoint</Application>
  <PresentationFormat>Custom</PresentationFormat>
  <Paragraphs>122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Swanger, Scott A</dc:creator>
  <cp:lastModifiedBy>Yunus Mohammed Sabir</cp:lastModifiedBy>
  <cp:revision>38</cp:revision>
  <dcterms:created xsi:type="dcterms:W3CDTF">2019-03-04T22:30:53Z</dcterms:created>
  <dcterms:modified xsi:type="dcterms:W3CDTF">2026-04-10T18:11:24Z</dcterms:modified>
</cp:coreProperties>
</file>